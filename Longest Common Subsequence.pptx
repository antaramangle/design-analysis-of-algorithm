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er Bold" charset="1" panose="02000503000000020004"/>
      <p:regular r:id="rId12"/>
    </p:embeddedFont>
    <p:embeddedFont>
      <p:font typeface="Inter Semi-Bold" charset="1" panose="02000503000000020004"/>
      <p:regular r:id="rId13"/>
    </p:embeddedFont>
    <p:embeddedFont>
      <p:font typeface="Inter" charset="1" panose="02000503000000020004"/>
      <p:regular r:id="rId14"/>
    </p:embeddedFont>
    <p:embeddedFont>
      <p:font typeface="Inter Medium" charset="1" panose="0200050300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17" Target="../media/image29.png" Type="http://schemas.openxmlformats.org/officeDocument/2006/relationships/image"/><Relationship Id="rId18" Target="../media/image30.png" Type="http://schemas.openxmlformats.org/officeDocument/2006/relationships/image"/><Relationship Id="rId19" Target="../media/image31.png" Type="http://schemas.openxmlformats.org/officeDocument/2006/relationships/image"/><Relationship Id="rId2" Target="../media/image14.png" Type="http://schemas.openxmlformats.org/officeDocument/2006/relationships/image"/><Relationship Id="rId20" Target="../media/image32.png" Type="http://schemas.openxmlformats.org/officeDocument/2006/relationships/image"/><Relationship Id="rId21" Target="../media/image33.png" Type="http://schemas.openxmlformats.org/officeDocument/2006/relationships/image"/><Relationship Id="rId22" Target="../media/image3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56440" y="2142670"/>
            <a:ext cx="10686230" cy="7291635"/>
          </a:xfrm>
          <a:custGeom>
            <a:avLst/>
            <a:gdLst/>
            <a:ahLst/>
            <a:cxnLst/>
            <a:rect r="r" b="b" t="t" l="l"/>
            <a:pathLst>
              <a:path h="7291635" w="10686230">
                <a:moveTo>
                  <a:pt x="0" y="0"/>
                </a:moveTo>
                <a:lnTo>
                  <a:pt x="10686230" y="0"/>
                </a:lnTo>
                <a:lnTo>
                  <a:pt x="10686230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8759" y="1958792"/>
            <a:ext cx="7527986" cy="357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3"/>
              </a:lnSpc>
            </a:pPr>
            <a:r>
              <a:rPr lang="en-US" sz="8938" spc="-357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Longest</a:t>
            </a:r>
          </a:p>
          <a:p>
            <a:pPr algn="l">
              <a:lnSpc>
                <a:spcPts val="9383"/>
              </a:lnSpc>
            </a:pPr>
            <a:r>
              <a:rPr lang="en-US" sz="8938" spc="-357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Common Subsequence: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6065" y="5629914"/>
            <a:ext cx="9797396" cy="113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1"/>
              </a:lnSpc>
            </a:pPr>
            <a:r>
              <a:rPr lang="en-US" sz="8240" spc="-329" b="true">
                <a:solidFill>
                  <a:srgbClr val="F5861F"/>
                </a:solidFill>
                <a:latin typeface="Inter Bold"/>
                <a:ea typeface="Inter Bold"/>
                <a:cs typeface="Inter Bold"/>
                <a:sym typeface="Inter Bold"/>
              </a:rPr>
              <a:t>Recursive Approach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9546" y="7089814"/>
            <a:ext cx="7449300" cy="37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759" spc="-55" b="true">
                <a:solidFill>
                  <a:srgbClr val="F4F4F4">
                    <a:alpha val="7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 recursive path to the optimal subsequence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9546" y="7680403"/>
            <a:ext cx="3972530" cy="41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  <a:spcBef>
                <a:spcPct val="0"/>
              </a:spcBef>
            </a:pPr>
            <a:r>
              <a:rPr lang="en-US" b="true" sz="2311" spc="-68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Gene</a:t>
            </a:r>
            <a:r>
              <a:rPr lang="en-US" b="true" sz="2311" spc="-68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rated using  </a:t>
            </a: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CANVA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0220" y="852695"/>
            <a:ext cx="9592450" cy="8581610"/>
          </a:xfrm>
          <a:custGeom>
            <a:avLst/>
            <a:gdLst/>
            <a:ahLst/>
            <a:cxnLst/>
            <a:rect r="r" b="b" t="t" l="l"/>
            <a:pathLst>
              <a:path h="8581610" w="9592450">
                <a:moveTo>
                  <a:pt x="0" y="0"/>
                </a:moveTo>
                <a:lnTo>
                  <a:pt x="9592450" y="0"/>
                </a:lnTo>
                <a:lnTo>
                  <a:pt x="9592450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3813" y="1369278"/>
            <a:ext cx="6343694" cy="277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1"/>
              </a:lnSpc>
            </a:pPr>
            <a:r>
              <a:rPr lang="en-US" sz="6008" spc="-120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What is the Longest Common Subsequence?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3921" y="4654027"/>
            <a:ext cx="6332904" cy="137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spc="-54" b="true">
                <a:solidFill>
                  <a:srgbClr val="B8C3D1"/>
                </a:solidFill>
                <a:latin typeface="Inter Medium"/>
                <a:ea typeface="Inter Medium"/>
                <a:cs typeface="Inter Medium"/>
                <a:sym typeface="Inter Medium"/>
              </a:rPr>
              <a:t>The </a:t>
            </a:r>
            <a:r>
              <a:rPr lang="en-US" sz="2707" spc="-54" b="true">
                <a:solidFill>
                  <a:srgbClr val="F08135"/>
                </a:solidFill>
                <a:latin typeface="Inter Medium"/>
                <a:ea typeface="Inter Medium"/>
                <a:cs typeface="Inter Medium"/>
                <a:sym typeface="Inter Medium"/>
              </a:rPr>
              <a:t>longest subsequence</a:t>
            </a:r>
            <a:r>
              <a:rPr lang="en-US" sz="2707" spc="-54" b="true">
                <a:solidFill>
                  <a:srgbClr val="B8C3D1"/>
                </a:solidFill>
                <a:latin typeface="Inter Medium"/>
                <a:ea typeface="Inter Medium"/>
                <a:cs typeface="Inter Medium"/>
                <a:sym typeface="Inter Medium"/>
              </a:rPr>
              <a:t> that appears in two sequences in the same order, but not necessarily contiguously.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4642" y="6496587"/>
            <a:ext cx="4260769" cy="88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spc="-51" b="true">
                <a:solidFill>
                  <a:srgbClr val="B8C3D1"/>
                </a:solidFill>
                <a:latin typeface="Inter Medium"/>
                <a:ea typeface="Inter Medium"/>
                <a:cs typeface="Inter Medium"/>
                <a:sym typeface="Inter Medium"/>
              </a:rPr>
              <a:t>Example: LCS of “AGGTAB”</a:t>
            </a:r>
          </a:p>
          <a:p>
            <a:pPr algn="l">
              <a:lnSpc>
                <a:spcPts val="3605"/>
              </a:lnSpc>
            </a:pPr>
            <a:r>
              <a:rPr lang="en-US" sz="2575" spc="-51" b="true">
                <a:solidFill>
                  <a:srgbClr val="B8C3D1"/>
                </a:solidFill>
                <a:latin typeface="Inter Medium"/>
                <a:ea typeface="Inter Medium"/>
                <a:cs typeface="Inter Medium"/>
                <a:sym typeface="Inter Medium"/>
              </a:rPr>
              <a:t>and “GXTXAYB” is “</a:t>
            </a:r>
            <a:r>
              <a:rPr lang="en-US" sz="2575" spc="-51" b="true">
                <a:solidFill>
                  <a:srgbClr val="F081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GTAB”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6198" y="7852063"/>
            <a:ext cx="6105202" cy="88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spc="-51" b="true">
                <a:solidFill>
                  <a:srgbClr val="B8C3D1"/>
                </a:solidFill>
                <a:latin typeface="Inter Medium"/>
                <a:ea typeface="Inter Medium"/>
                <a:cs typeface="Inter Medium"/>
                <a:sym typeface="Inter Medium"/>
              </a:rPr>
              <a:t>Widely used in diff tools, bioinformatics, and version control.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97027" y="1996185"/>
            <a:ext cx="1841018" cy="32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b="true" sz="2109" spc="105">
                <a:solidFill>
                  <a:srgbClr val="94A4B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SEQUENCE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78308" y="2519408"/>
            <a:ext cx="514364" cy="87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b="true" sz="5656" spc="-113">
                <a:solidFill>
                  <a:srgbClr val="B8C3D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81646" y="2519408"/>
            <a:ext cx="533016" cy="87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b="true" sz="5656" spc="-113">
                <a:solidFill>
                  <a:srgbClr val="F081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67521" y="2519408"/>
            <a:ext cx="533016" cy="87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b="true" sz="5656" spc="-113">
                <a:solidFill>
                  <a:srgbClr val="B8C3D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87472" y="2519408"/>
            <a:ext cx="464864" cy="87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b="true" sz="5656" spc="-113">
                <a:solidFill>
                  <a:srgbClr val="F081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75386" y="2519408"/>
            <a:ext cx="514364" cy="87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b="true" sz="5656" spc="-113">
                <a:solidFill>
                  <a:srgbClr val="F081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911903" y="2519408"/>
            <a:ext cx="466658" cy="87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b="true" sz="5656" spc="-113">
                <a:solidFill>
                  <a:srgbClr val="F081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664354" y="3214004"/>
            <a:ext cx="448450" cy="2153601"/>
          </a:xfrm>
          <a:custGeom>
            <a:avLst/>
            <a:gdLst/>
            <a:ahLst/>
            <a:cxnLst/>
            <a:rect r="r" b="b" t="t" l="l"/>
            <a:pathLst>
              <a:path h="2153601" w="448450">
                <a:moveTo>
                  <a:pt x="0" y="0"/>
                </a:moveTo>
                <a:lnTo>
                  <a:pt x="448450" y="0"/>
                </a:lnTo>
                <a:lnTo>
                  <a:pt x="44845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497244" y="3214004"/>
            <a:ext cx="218756" cy="2153601"/>
          </a:xfrm>
          <a:custGeom>
            <a:avLst/>
            <a:gdLst/>
            <a:ahLst/>
            <a:cxnLst/>
            <a:rect r="r" b="b" t="t" l="l"/>
            <a:pathLst>
              <a:path h="2153601" w="218756">
                <a:moveTo>
                  <a:pt x="0" y="0"/>
                </a:moveTo>
                <a:lnTo>
                  <a:pt x="218756" y="0"/>
                </a:lnTo>
                <a:lnTo>
                  <a:pt x="21875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798842" y="3214004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100440" y="3214004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196466" y="4646893"/>
            <a:ext cx="1897147" cy="32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b="true" sz="2109" spc="105">
                <a:solidFill>
                  <a:srgbClr val="94A4B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SEQUENCE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68837" y="5204191"/>
            <a:ext cx="479728" cy="76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b="true" sz="5075" spc="-101">
                <a:solidFill>
                  <a:srgbClr val="F081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05438" y="5204191"/>
            <a:ext cx="456807" cy="76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b="true" sz="5075" spc="-101">
                <a:solidFill>
                  <a:srgbClr val="B8C3D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X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42631" y="5204191"/>
            <a:ext cx="418390" cy="76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b="true" sz="5075" spc="-101">
                <a:solidFill>
                  <a:srgbClr val="B8C3D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21774" y="5204191"/>
            <a:ext cx="456807" cy="76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b="true" sz="5075" spc="-101">
                <a:solidFill>
                  <a:srgbClr val="B8C3D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X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17059" y="5204191"/>
            <a:ext cx="462941" cy="76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b="true" sz="5075" spc="-101">
                <a:solidFill>
                  <a:srgbClr val="F081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820576" y="5204191"/>
            <a:ext cx="452610" cy="76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b="true" sz="5075" spc="-101">
                <a:solidFill>
                  <a:srgbClr val="B8C3D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935230" y="5204191"/>
            <a:ext cx="420004" cy="76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b="true" sz="5075" spc="-101">
                <a:solidFill>
                  <a:srgbClr val="F081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706488" y="6428009"/>
            <a:ext cx="8279914" cy="218640"/>
          </a:xfrm>
          <a:custGeom>
            <a:avLst/>
            <a:gdLst/>
            <a:ahLst/>
            <a:cxnLst/>
            <a:rect r="r" b="b" t="t" l="l"/>
            <a:pathLst>
              <a:path h="218640" w="8279914">
                <a:moveTo>
                  <a:pt x="0" y="0"/>
                </a:moveTo>
                <a:lnTo>
                  <a:pt x="8279914" y="0"/>
                </a:lnTo>
                <a:lnTo>
                  <a:pt x="827991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162910" y="7282540"/>
            <a:ext cx="5252731" cy="32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b="true" sz="2109" spc="105">
                <a:solidFill>
                  <a:srgbClr val="94A4B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LONGEST COMMON SUBSEQUENCE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22560" y="7805763"/>
            <a:ext cx="533016" cy="87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b="true" sz="5656" spc="-113">
                <a:solidFill>
                  <a:srgbClr val="F081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30034" y="7805763"/>
            <a:ext cx="464864" cy="87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b="true" sz="5656" spc="-113">
                <a:solidFill>
                  <a:srgbClr val="F081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98316" y="7805763"/>
            <a:ext cx="514364" cy="87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b="true" sz="5656" spc="-113">
                <a:solidFill>
                  <a:srgbClr val="F081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15200" y="7805763"/>
            <a:ext cx="466658" cy="87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b="true" sz="5656" spc="-113">
                <a:solidFill>
                  <a:srgbClr val="F081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7926" y="770836"/>
            <a:ext cx="6253542" cy="185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8"/>
              </a:lnSpc>
            </a:pPr>
            <a:r>
              <a:rPr lang="en-US" sz="6206" spc="-124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Recursive Approach to LCS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152" y="2921791"/>
            <a:ext cx="5330848" cy="84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Solve LCS by breaking the problem into smaller subproblems.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4066699"/>
            <a:ext cx="448450" cy="3443576"/>
          </a:xfrm>
          <a:custGeom>
            <a:avLst/>
            <a:gdLst/>
            <a:ahLst/>
            <a:cxnLst/>
            <a:rect r="r" b="b" t="t" l="l"/>
            <a:pathLst>
              <a:path h="3443576" w="448450">
                <a:moveTo>
                  <a:pt x="0" y="0"/>
                </a:moveTo>
                <a:lnTo>
                  <a:pt x="448450" y="0"/>
                </a:lnTo>
                <a:lnTo>
                  <a:pt x="448450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5047" y="4547884"/>
            <a:ext cx="3514067" cy="70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If either sequence is empty, the LCS length is 0.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0188" y="5565341"/>
            <a:ext cx="396478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true">
                <a:solidFill>
                  <a:srgbClr val="F6813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Characters match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2280" y="6023846"/>
            <a:ext cx="4790709" cy="70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Add 1 and recurse on both sequences without their last characters.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1263" y="7469687"/>
            <a:ext cx="4892483" cy="106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Take the maximum of recurring by dropping the last character from either sequence.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8778386"/>
            <a:ext cx="6978316" cy="1082267"/>
          </a:xfrm>
          <a:custGeom>
            <a:avLst/>
            <a:gdLst/>
            <a:ahLst/>
            <a:cxnLst/>
            <a:rect r="r" b="b" t="t" l="l"/>
            <a:pathLst>
              <a:path h="1082267" w="6978316">
                <a:moveTo>
                  <a:pt x="0" y="0"/>
                </a:moveTo>
                <a:lnTo>
                  <a:pt x="6978316" y="0"/>
                </a:lnTo>
                <a:lnTo>
                  <a:pt x="697831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37570" y="9183135"/>
            <a:ext cx="6078187" cy="3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true">
                <a:solidFill>
                  <a:srgbClr val="FFFFFF">
                    <a:alpha val="80000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This recursion has </a:t>
            </a:r>
            <a:r>
              <a:rPr lang="en-US" sz="2047" b="true">
                <a:solidFill>
                  <a:srgbClr val="F68131">
                    <a:alpha val="80000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exponential</a:t>
            </a:r>
            <a:r>
              <a:rPr lang="en-US" sz="2047" b="true">
                <a:solidFill>
                  <a:srgbClr val="FFFFFF">
                    <a:alpha val="80000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time complexity.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268976" y="1497682"/>
            <a:ext cx="9154938" cy="7936623"/>
          </a:xfrm>
          <a:custGeom>
            <a:avLst/>
            <a:gdLst/>
            <a:ahLst/>
            <a:cxnLst/>
            <a:rect r="r" b="b" t="t" l="l"/>
            <a:pathLst>
              <a:path h="7936623" w="9154938">
                <a:moveTo>
                  <a:pt x="0" y="0"/>
                </a:moveTo>
                <a:lnTo>
                  <a:pt x="9154938" y="0"/>
                </a:lnTo>
                <a:lnTo>
                  <a:pt x="9154938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849767" y="2104206"/>
            <a:ext cx="7099095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 b="true">
                <a:solidFill>
                  <a:srgbClr val="F68131"/>
                </a:solidFill>
                <a:latin typeface="Inter Bold"/>
                <a:ea typeface="Inter Bold"/>
                <a:cs typeface="Inter Bold"/>
                <a:sym typeface="Inter Bold"/>
              </a:rPr>
              <a:t>int </a:t>
            </a: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LCS(string X, string Y, </a:t>
            </a:r>
            <a:r>
              <a:rPr lang="en-US" sz="2311" spc="-68" b="true">
                <a:solidFill>
                  <a:srgbClr val="F68131"/>
                </a:solidFill>
                <a:latin typeface="Inter Bold"/>
                <a:ea typeface="Inter Bold"/>
                <a:cs typeface="Inter Bold"/>
                <a:sym typeface="Inter Bold"/>
              </a:rPr>
              <a:t>int </a:t>
            </a: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m, </a:t>
            </a:r>
            <a:r>
              <a:rPr lang="en-US" sz="2311" spc="-68" b="true">
                <a:solidFill>
                  <a:srgbClr val="F68131"/>
                </a:solidFill>
                <a:latin typeface="Inter Bold"/>
                <a:ea typeface="Inter Bold"/>
                <a:cs typeface="Inter Bold"/>
                <a:sym typeface="Inter Bold"/>
              </a:rPr>
              <a:t>int </a:t>
            </a: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46967" y="3143404"/>
            <a:ext cx="3636120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 b="true">
                <a:solidFill>
                  <a:srgbClr val="F68131"/>
                </a:solidFill>
                <a:latin typeface="Inter Bold"/>
                <a:ea typeface="Inter Bold"/>
                <a:cs typeface="Inter Bold"/>
                <a:sym typeface="Inter Bold"/>
              </a:rPr>
              <a:t>if </a:t>
            </a: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(m == 0 |l n == 0)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30315" y="3625350"/>
            <a:ext cx="1558337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 b="true">
                <a:solidFill>
                  <a:srgbClr val="F68131"/>
                </a:solidFill>
                <a:latin typeface="Inter Bold"/>
                <a:ea typeface="Inter Bold"/>
                <a:cs typeface="Inter Bold"/>
                <a:sym typeface="Inter Bold"/>
              </a:rPr>
              <a:t>return </a:t>
            </a: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46964" y="4619366"/>
            <a:ext cx="3636417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 b="true">
                <a:solidFill>
                  <a:srgbClr val="F68131"/>
                </a:solidFill>
                <a:latin typeface="Inter Bold"/>
                <a:ea typeface="Inter Bold"/>
                <a:cs typeface="Inter Bold"/>
                <a:sym typeface="Inter Bold"/>
              </a:rPr>
              <a:t>if </a:t>
            </a: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(X[m-1] == Y[n-1])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92219" y="5101313"/>
            <a:ext cx="5367903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 b="true">
                <a:solidFill>
                  <a:srgbClr val="F68131"/>
                </a:solidFill>
                <a:latin typeface="Inter Bold"/>
                <a:ea typeface="Inter Bold"/>
                <a:cs typeface="Inter Bold"/>
                <a:sym typeface="Inter Bold"/>
              </a:rPr>
              <a:t>return </a:t>
            </a: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 + LCS(X, Y, m-1, n-1);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64282" y="6140511"/>
            <a:ext cx="1904634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 b="true">
                <a:solidFill>
                  <a:srgbClr val="F68131"/>
                </a:solidFill>
                <a:latin typeface="Inter Bold"/>
                <a:ea typeface="Inter Bold"/>
                <a:cs typeface="Inter Bold"/>
                <a:sym typeface="Inter Bold"/>
              </a:rPr>
              <a:t>return </a:t>
            </a:r>
            <a:r>
              <a:rPr lang="en-US" sz="2311" spc="-68">
                <a:solidFill>
                  <a:srgbClr val="F6DCB3"/>
                </a:solidFill>
                <a:latin typeface="Inter"/>
                <a:ea typeface="Inter"/>
                <a:cs typeface="Inter"/>
                <a:sym typeface="Inter"/>
              </a:rPr>
              <a:t>max(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48676" y="6637519"/>
            <a:ext cx="3116823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LCS(X, Y, m-1, n),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90815" y="7661656"/>
            <a:ext cx="346297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50407" y="7119466"/>
            <a:ext cx="2943674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LCS(X, Y, m, n-1)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0188" y="7026242"/>
            <a:ext cx="396478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true">
                <a:solidFill>
                  <a:srgbClr val="F6813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Characters differ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00188" y="4089378"/>
            <a:ext cx="396478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true">
                <a:solidFill>
                  <a:srgbClr val="F6813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Base case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14819" y="2616274"/>
            <a:ext cx="173149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{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14819" y="8233968"/>
            <a:ext cx="173149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spc="-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6424" y="876261"/>
            <a:ext cx="8082618" cy="91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3"/>
              </a:lnSpc>
            </a:pPr>
            <a:r>
              <a:rPr lang="en-US" sz="6068" spc="-180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Step-by-Step Example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5055" y="1949217"/>
            <a:ext cx="8219506" cy="49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82" b="true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Recursive process for sequences </a:t>
            </a:r>
            <a:r>
              <a:rPr lang="en-US" sz="2759" spc="-82" b="true">
                <a:solidFill>
                  <a:srgbClr val="E8803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“ABC”</a:t>
            </a:r>
            <a:r>
              <a:rPr lang="en-US" sz="2759" spc="-82" b="true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and </a:t>
            </a:r>
            <a:r>
              <a:rPr lang="en-US" sz="2759" spc="-82" b="true">
                <a:solidFill>
                  <a:srgbClr val="E8803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“AC”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5641" y="3580168"/>
            <a:ext cx="5160928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 b="true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Start by comparing the full sequences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2362" y="4047054"/>
            <a:ext cx="1488810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 b="true">
                <a:solidFill>
                  <a:srgbClr val="E8803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ABC vs AC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4711687"/>
            <a:ext cx="6103292" cy="218640"/>
          </a:xfrm>
          <a:custGeom>
            <a:avLst/>
            <a:gdLst/>
            <a:ahLst/>
            <a:cxnLst/>
            <a:rect r="r" b="b" t="t" l="l"/>
            <a:pathLst>
              <a:path h="218640" w="6103292">
                <a:moveTo>
                  <a:pt x="0" y="0"/>
                </a:moveTo>
                <a:lnTo>
                  <a:pt x="6103292" y="0"/>
                </a:lnTo>
                <a:lnTo>
                  <a:pt x="610329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5915" y="5101679"/>
            <a:ext cx="6133530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 b="true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Branch recursively based on character match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4086" y="5783021"/>
            <a:ext cx="6103292" cy="218640"/>
          </a:xfrm>
          <a:custGeom>
            <a:avLst/>
            <a:gdLst/>
            <a:ahLst/>
            <a:cxnLst/>
            <a:rect r="r" b="b" t="t" l="l"/>
            <a:pathLst>
              <a:path h="218640" w="6103292">
                <a:moveTo>
                  <a:pt x="0" y="0"/>
                </a:moveTo>
                <a:lnTo>
                  <a:pt x="6103292" y="0"/>
                </a:lnTo>
                <a:lnTo>
                  <a:pt x="610329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05988" y="6170633"/>
            <a:ext cx="5126246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 b="true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Break down into smaller subproblems</a:t>
            </a:r>
          </a:p>
          <a:p>
            <a:pPr algn="l">
              <a:lnSpc>
                <a:spcPts val="3467"/>
              </a:lnSpc>
            </a:pPr>
            <a:r>
              <a:rPr lang="en-US" sz="2311" spc="-68" b="true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until a base case is reached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4086" y="7280704"/>
            <a:ext cx="6103292" cy="229572"/>
          </a:xfrm>
          <a:custGeom>
            <a:avLst/>
            <a:gdLst/>
            <a:ahLst/>
            <a:cxnLst/>
            <a:rect r="r" b="b" t="t" l="l"/>
            <a:pathLst>
              <a:path h="229572" w="6103292">
                <a:moveTo>
                  <a:pt x="0" y="0"/>
                </a:moveTo>
                <a:lnTo>
                  <a:pt x="6103292" y="0"/>
                </a:lnTo>
                <a:lnTo>
                  <a:pt x="610329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98349" y="7691778"/>
            <a:ext cx="5890134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 b="true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Build the solution back from the base cases to get the </a:t>
            </a:r>
            <a:r>
              <a:rPr lang="en-US" sz="2311" spc="-68" b="true">
                <a:solidFill>
                  <a:srgbClr val="E8803A"/>
                </a:solidFill>
                <a:latin typeface="Inter Bold"/>
                <a:ea typeface="Inter Bold"/>
                <a:cs typeface="Inter Bold"/>
                <a:sym typeface="Inter Bold"/>
              </a:rPr>
              <a:t>longest common subsequence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965952" y="852695"/>
            <a:ext cx="2187560" cy="1727254"/>
          </a:xfrm>
          <a:custGeom>
            <a:avLst/>
            <a:gdLst/>
            <a:ahLst/>
            <a:cxnLst/>
            <a:rect r="r" b="b" t="t" l="l"/>
            <a:pathLst>
              <a:path h="1727254" w="2187560">
                <a:moveTo>
                  <a:pt x="0" y="0"/>
                </a:moveTo>
                <a:lnTo>
                  <a:pt x="2187560" y="0"/>
                </a:lnTo>
                <a:lnTo>
                  <a:pt x="218756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14122" y="1284230"/>
            <a:ext cx="821286" cy="98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b="true" sz="3102" spc="-9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ABC</a:t>
            </a:r>
          </a:p>
          <a:p>
            <a:pPr algn="ctr">
              <a:lnSpc>
                <a:spcPts val="4032"/>
              </a:lnSpc>
            </a:pPr>
            <a:r>
              <a:rPr lang="en-US" b="true" sz="3102" spc="-92">
                <a:solidFill>
                  <a:srgbClr val="E8803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62192" y="2571092"/>
            <a:ext cx="724316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68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 ≠ A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883110" y="2350377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411127" y="2495787"/>
            <a:ext cx="752334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68">
                <a:solidFill>
                  <a:srgbClr val="E8803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 = C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059732" y="2350377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89330" y="3214004"/>
            <a:ext cx="1968804" cy="1716322"/>
          </a:xfrm>
          <a:custGeom>
            <a:avLst/>
            <a:gdLst/>
            <a:ahLst/>
            <a:cxnLst/>
            <a:rect r="r" b="b" t="t" l="l"/>
            <a:pathLst>
              <a:path h="1716322" w="1968804">
                <a:moveTo>
                  <a:pt x="0" y="0"/>
                </a:moveTo>
                <a:lnTo>
                  <a:pt x="1968804" y="0"/>
                </a:lnTo>
                <a:lnTo>
                  <a:pt x="196880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512235" y="3528295"/>
            <a:ext cx="566979" cy="98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b="true" sz="3102" spc="-9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BC</a:t>
            </a:r>
          </a:p>
          <a:p>
            <a:pPr algn="ctr">
              <a:lnSpc>
                <a:spcPts val="4032"/>
              </a:lnSpc>
            </a:pPr>
            <a:r>
              <a:rPr lang="en-US" b="true" sz="3102" spc="-92">
                <a:solidFill>
                  <a:srgbClr val="E8803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60168" y="4890461"/>
            <a:ext cx="724316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68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 ≠ A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351818" y="4711687"/>
            <a:ext cx="1542230" cy="1082267"/>
          </a:xfrm>
          <a:custGeom>
            <a:avLst/>
            <a:gdLst/>
            <a:ahLst/>
            <a:cxnLst/>
            <a:rect r="r" b="b" t="t" l="l"/>
            <a:pathLst>
              <a:path h="1082267" w="1542230">
                <a:moveTo>
                  <a:pt x="0" y="0"/>
                </a:moveTo>
                <a:lnTo>
                  <a:pt x="1542230" y="0"/>
                </a:lnTo>
                <a:lnTo>
                  <a:pt x="154223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519984" y="4890461"/>
            <a:ext cx="748183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68">
                <a:solidFill>
                  <a:srgbClr val="E8803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 = A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664354" y="4711687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142574" y="3214004"/>
            <a:ext cx="2187560" cy="1716322"/>
          </a:xfrm>
          <a:custGeom>
            <a:avLst/>
            <a:gdLst/>
            <a:ahLst/>
            <a:cxnLst/>
            <a:rect r="r" b="b" t="t" l="l"/>
            <a:pathLst>
              <a:path h="1716322" w="2187560">
                <a:moveTo>
                  <a:pt x="0" y="0"/>
                </a:moveTo>
                <a:lnTo>
                  <a:pt x="2187560" y="0"/>
                </a:lnTo>
                <a:lnTo>
                  <a:pt x="218756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055567" y="3528295"/>
            <a:ext cx="535017" cy="98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b="true" sz="3102" spc="-9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AB</a:t>
            </a:r>
          </a:p>
          <a:p>
            <a:pPr algn="ctr">
              <a:lnSpc>
                <a:spcPts val="4032"/>
              </a:lnSpc>
            </a:pPr>
            <a:r>
              <a:rPr lang="en-US" b="true" sz="3102" spc="-92">
                <a:solidFill>
                  <a:srgbClr val="E8803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99130" y="4890461"/>
            <a:ext cx="744032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68">
                <a:solidFill>
                  <a:srgbClr val="E8803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 = A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142574" y="4711687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017598" y="4711687"/>
            <a:ext cx="1531292" cy="1082267"/>
          </a:xfrm>
          <a:custGeom>
            <a:avLst/>
            <a:gdLst/>
            <a:ahLst/>
            <a:cxnLst/>
            <a:rect r="r" b="b" t="t" l="l"/>
            <a:pathLst>
              <a:path h="1082267" w="1531292">
                <a:moveTo>
                  <a:pt x="0" y="0"/>
                </a:moveTo>
                <a:lnTo>
                  <a:pt x="1531292" y="0"/>
                </a:lnTo>
                <a:lnTo>
                  <a:pt x="153129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268976" y="5564382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038836" y="5817543"/>
            <a:ext cx="566979" cy="98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b="true" sz="3102" spc="-9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</a:t>
            </a:r>
          </a:p>
          <a:p>
            <a:pPr algn="ctr">
              <a:lnSpc>
                <a:spcPts val="4032"/>
              </a:lnSpc>
            </a:pPr>
            <a:r>
              <a:rPr lang="en-US" b="true" sz="3102" spc="-92">
                <a:solidFill>
                  <a:srgbClr val="E8803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9144000" y="7062064"/>
            <a:ext cx="218756" cy="874559"/>
          </a:xfrm>
          <a:custGeom>
            <a:avLst/>
            <a:gdLst/>
            <a:ahLst/>
            <a:cxnLst/>
            <a:rect r="r" b="b" t="t" l="l"/>
            <a:pathLst>
              <a:path h="874559" w="218756">
                <a:moveTo>
                  <a:pt x="0" y="0"/>
                </a:moveTo>
                <a:lnTo>
                  <a:pt x="218756" y="0"/>
                </a:lnTo>
                <a:lnTo>
                  <a:pt x="21875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8745794" y="8651292"/>
            <a:ext cx="1086626" cy="49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b="true" sz="2759" spc="-82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("AC”)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50564" y="7976732"/>
            <a:ext cx="236368" cy="72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1"/>
              </a:lnSpc>
            </a:pPr>
            <a:r>
              <a:rPr lang="en-US" b="true" sz="4609" spc="-137">
                <a:solidFill>
                  <a:srgbClr val="F48338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664354" y="5564382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619775" y="5817543"/>
            <a:ext cx="280710" cy="98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b="true" sz="3102" spc="-9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</a:t>
            </a:r>
          </a:p>
          <a:p>
            <a:pPr algn="ctr">
              <a:lnSpc>
                <a:spcPts val="4032"/>
              </a:lnSpc>
            </a:pPr>
            <a:r>
              <a:rPr lang="en-US" b="true" sz="3102" spc="-92">
                <a:solidFill>
                  <a:srgbClr val="E8803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1528440" y="7062064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365425" y="8651292"/>
            <a:ext cx="830131" cy="49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b="true" sz="2759" spc="-82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("A”)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3059732" y="5564382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923818" y="7062064"/>
            <a:ext cx="448450" cy="874559"/>
          </a:xfrm>
          <a:custGeom>
            <a:avLst/>
            <a:gdLst/>
            <a:ahLst/>
            <a:cxnLst/>
            <a:rect r="r" b="b" t="t" l="l"/>
            <a:pathLst>
              <a:path h="874559" w="448450">
                <a:moveTo>
                  <a:pt x="0" y="0"/>
                </a:moveTo>
                <a:lnTo>
                  <a:pt x="448450" y="0"/>
                </a:lnTo>
                <a:lnTo>
                  <a:pt x="448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776440" y="8651292"/>
            <a:ext cx="830131" cy="49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b="true" sz="2759" spc="-82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("A”)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5455110" y="5564382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6319196" y="7062064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5878076" y="8651292"/>
            <a:ext cx="1288157" cy="49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b="true" sz="2759" spc="-82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(empty)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362716" y="7976732"/>
            <a:ext cx="385313" cy="72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1"/>
              </a:lnSpc>
            </a:pPr>
            <a:r>
              <a:rPr lang="en-US" b="true" sz="4609" spc="-137">
                <a:solidFill>
                  <a:srgbClr val="F48338"/>
                </a:solidFill>
                <a:latin typeface="Inter Bold"/>
                <a:ea typeface="Inter Bold"/>
                <a:cs typeface="Inter Bold"/>
                <a:sym typeface="Inter Bold"/>
              </a:rPr>
              <a:t>0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278631" y="5988898"/>
            <a:ext cx="553483" cy="514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4"/>
              </a:lnSpc>
            </a:pPr>
            <a:r>
              <a:rPr lang="en-US" b="true" sz="3234" spc="-96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AB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220004" y="4875400"/>
            <a:ext cx="724316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68">
                <a:solidFill>
                  <a:srgbClr val="ADB8C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 ≠ 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588368" y="7976732"/>
            <a:ext cx="236368" cy="72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1"/>
              </a:lnSpc>
            </a:pPr>
            <a:r>
              <a:rPr lang="en-US" b="true" sz="4609" spc="-137">
                <a:solidFill>
                  <a:srgbClr val="F48338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999384" y="7976732"/>
            <a:ext cx="236368" cy="72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1"/>
              </a:lnSpc>
            </a:pPr>
            <a:r>
              <a:rPr lang="en-US" b="true" sz="4609" spc="-137">
                <a:solidFill>
                  <a:srgbClr val="F48338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039604" y="5988898"/>
            <a:ext cx="263084" cy="514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4"/>
              </a:lnSpc>
            </a:pPr>
            <a:r>
              <a:rPr lang="en-US" b="true" sz="3234" spc="-96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1831" y="1004766"/>
            <a:ext cx="6578624" cy="2041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1"/>
              </a:lnSpc>
            </a:pPr>
            <a:r>
              <a:rPr lang="en-US" sz="7077" spc="-210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Summary &amp;</a:t>
            </a:r>
          </a:p>
          <a:p>
            <a:pPr algn="l">
              <a:lnSpc>
                <a:spcPts val="8141"/>
              </a:lnSpc>
            </a:pPr>
            <a:r>
              <a:rPr lang="en-US" sz="7077" spc="-210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Key Takeaways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3214004"/>
            <a:ext cx="1750048" cy="218640"/>
          </a:xfrm>
          <a:custGeom>
            <a:avLst/>
            <a:gdLst/>
            <a:ahLst/>
            <a:cxnLst/>
            <a:rect r="r" b="b" t="t" l="l"/>
            <a:pathLst>
              <a:path h="218640" w="1750048">
                <a:moveTo>
                  <a:pt x="0" y="0"/>
                </a:moveTo>
                <a:lnTo>
                  <a:pt x="1750048" y="0"/>
                </a:lnTo>
                <a:lnTo>
                  <a:pt x="1750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8782" y="3780498"/>
            <a:ext cx="5562439" cy="90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spc="-54" b="true">
                <a:solidFill>
                  <a:srgbClr val="E87733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LCS</a:t>
            </a:r>
            <a:r>
              <a:rPr lang="en-US" sz="2707" spc="-54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 finds the longest common</a:t>
            </a:r>
          </a:p>
          <a:p>
            <a:pPr algn="l">
              <a:lnSpc>
                <a:spcPts val="3789"/>
              </a:lnSpc>
            </a:pPr>
            <a:r>
              <a:rPr lang="en-US" sz="2707" spc="-54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subsequence between two strings.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4919394"/>
            <a:ext cx="7634584" cy="229572"/>
          </a:xfrm>
          <a:custGeom>
            <a:avLst/>
            <a:gdLst/>
            <a:ahLst/>
            <a:cxnLst/>
            <a:rect r="r" b="b" t="t" l="l"/>
            <a:pathLst>
              <a:path h="229572" w="7634584">
                <a:moveTo>
                  <a:pt x="0" y="0"/>
                </a:moveTo>
                <a:lnTo>
                  <a:pt x="7634584" y="0"/>
                </a:lnTo>
                <a:lnTo>
                  <a:pt x="763458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09852" y="5226339"/>
            <a:ext cx="5455380" cy="90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spc="-54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Recursive approach is intuitive but</a:t>
            </a:r>
          </a:p>
          <a:p>
            <a:pPr algn="l">
              <a:lnSpc>
                <a:spcPts val="3789"/>
              </a:lnSpc>
            </a:pPr>
            <a:r>
              <a:rPr lang="en-US" sz="2707" spc="-54" b="true">
                <a:solidFill>
                  <a:srgbClr val="E87733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inefficient</a:t>
            </a:r>
            <a:r>
              <a:rPr lang="en-US" sz="2707" spc="-54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 for large inputs.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4086" y="6209369"/>
            <a:ext cx="7634584" cy="437279"/>
          </a:xfrm>
          <a:custGeom>
            <a:avLst/>
            <a:gdLst/>
            <a:ahLst/>
            <a:cxnLst/>
            <a:rect r="r" b="b" t="t" l="l"/>
            <a:pathLst>
              <a:path h="437279" w="7634584">
                <a:moveTo>
                  <a:pt x="0" y="0"/>
                </a:moveTo>
                <a:lnTo>
                  <a:pt x="7634584" y="0"/>
                </a:lnTo>
                <a:lnTo>
                  <a:pt x="763458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04193" y="6642058"/>
            <a:ext cx="6021357" cy="90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spc="-54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Understanding recursion lays the</a:t>
            </a:r>
          </a:p>
          <a:p>
            <a:pPr algn="l">
              <a:lnSpc>
                <a:spcPts val="3789"/>
              </a:lnSpc>
            </a:pPr>
            <a:r>
              <a:rPr lang="en-US" sz="2707" spc="-54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foundation for </a:t>
            </a:r>
            <a:r>
              <a:rPr lang="en-US" sz="2707" spc="-54" b="true">
                <a:solidFill>
                  <a:srgbClr val="E87733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dynamic programming</a:t>
            </a:r>
            <a:r>
              <a:rPr lang="en-US" sz="2707" spc="-54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7707051"/>
            <a:ext cx="7634584" cy="229572"/>
          </a:xfrm>
          <a:custGeom>
            <a:avLst/>
            <a:gdLst/>
            <a:ahLst/>
            <a:cxnLst/>
            <a:rect r="r" b="b" t="t" l="l"/>
            <a:pathLst>
              <a:path h="229572" w="7634584">
                <a:moveTo>
                  <a:pt x="0" y="0"/>
                </a:moveTo>
                <a:lnTo>
                  <a:pt x="7634584" y="0"/>
                </a:lnTo>
                <a:lnTo>
                  <a:pt x="763458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8828" y="8057777"/>
            <a:ext cx="4557794" cy="90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spc="-54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Explore </a:t>
            </a:r>
            <a:r>
              <a:rPr lang="en-US" sz="2707" spc="-54" b="true">
                <a:solidFill>
                  <a:srgbClr val="E87733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memoization and DP</a:t>
            </a:r>
          </a:p>
          <a:p>
            <a:pPr algn="l">
              <a:lnSpc>
                <a:spcPts val="3789"/>
              </a:lnSpc>
            </a:pPr>
            <a:r>
              <a:rPr lang="en-US" sz="2707" spc="-54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techniques next.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0574" y="7707051"/>
            <a:ext cx="7415828" cy="1727254"/>
          </a:xfrm>
          <a:custGeom>
            <a:avLst/>
            <a:gdLst/>
            <a:ahLst/>
            <a:cxnLst/>
            <a:rect r="r" b="b" t="t" l="l"/>
            <a:pathLst>
              <a:path h="1727254" w="7415828">
                <a:moveTo>
                  <a:pt x="0" y="0"/>
                </a:moveTo>
                <a:lnTo>
                  <a:pt x="7415828" y="0"/>
                </a:lnTo>
                <a:lnTo>
                  <a:pt x="7415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4194" y="2837067"/>
            <a:ext cx="8021216" cy="158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5"/>
              </a:lnSpc>
            </a:pPr>
            <a:r>
              <a:rPr lang="en-US" sz="11845" spc="-237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DAHYVjAG_5w</dc:identifier>
  <dcterms:modified xsi:type="dcterms:W3CDTF">2011-08-01T06:04:30Z</dcterms:modified>
  <cp:revision>1</cp:revision>
  <dc:title>Longest Common Subsequence</dc:title>
</cp:coreProperties>
</file>